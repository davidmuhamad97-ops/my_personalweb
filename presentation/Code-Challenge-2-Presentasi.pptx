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Skor akhir (LCP/INP/CLS) diisi setelah menjalankan PageSpeed Insights. Jangan isi angka perkiraan sebelum ada hasil asli.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Personal Website Portfolio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>
                <a:solidFill>
                  <a:srgbClr val="CBD5E1"/>
                </a:solidFill>
                <a:latin typeface="Calibri"/>
              </a:rPr>
              <a:t>Code Challenge 2 — Opsi A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JCFSVL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Muhammad David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291840"/>
            <a:ext cx="2194560" cy="73152"/>
          </a:xfrm>
          <a:prstGeom prst="rect">
            <a:avLst/>
          </a:prstGeom>
          <a:solidFill>
            <a:srgbClr val="8B5C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4F46E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4754880"/>
            <a:ext cx="2377440" cy="2377440"/>
          </a:xfrm>
          <a:prstGeom prst="ellipse">
            <a:avLst/>
          </a:prstGeom>
          <a:solidFill>
            <a:srgbClr val="7C3AE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Calibri"/>
              </a:rPr>
              <a:t>Fitur 1 — Hero &amp; Animated Avatar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Avatar inisial (MD) berbingkai conic-gradient yang berputar otomatis (spin 4 detik).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Glow pulsing lembut di belakang avatar (efek bernapas, 3 detik).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Background SVG: pola dots + gradient mesh blob di 4 sudut.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Menampilkan nama, job title, lokasi, dan bio singkat dari data profil.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Calibri"/>
              </a:rPr>
              <a:t>Fitur 2 — Sticky Navbar &amp; ScrollSpy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Navbar sticky dengan backdrop-blur agar tetap terlihat saat scroll.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Underline beranimasi muncul saat hover dan menetap pada menu aktif.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Hook useScrollSpy memakai IntersectionObserver untuk mendeteksi section yang sedang dilihat.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Smooth scrolling antar section (CSS scroll-behavior: smooth + scroll-margin-top).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Calibri"/>
              </a:rPr>
              <a:t>Fitur 3 — Gradient Cards &amp; Hover Animation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Skills, Experience, dan Testimonials memakai kartu gradient berwarna (indigo, sky, teal, fuchsia).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Hover: kartu terangkat (translate-y) + shadow membesar.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Background kartu berubah warna saat hover (section Skills).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Light bloom + elemen dekoratif muncul saat hover di setiap kartu.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Calibri"/>
              </a:rPr>
              <a:t>Fitur 4 — Responsive &amp; Performa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Single-page application (React Router) dengan SPA fallback di Vercel.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Mobile-first memakai Tailwind responsive breakpoints.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Aset gambar minim: avatar &amp; background berbasis CSS/SVG, tanpa bitmap besar.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Meta tags, robots.txt, dan SEO dasar pada index.html.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6675120" cy="82296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Potongan Kode — AnimatedAvatar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600200"/>
            <a:ext cx="6675120" cy="4480560"/>
          </a:xfrm>
          <a:prstGeom prst="rect">
            <a:avLst/>
          </a:prstGeom>
          <a:solidFill>
            <a:srgbClr val="1E293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2E8F0"/>
                </a:solidFill>
                <a:latin typeface="Consolas"/>
              </a:rPr>
              <a:t>export function AnimatedAvatar({ name }) {</a:t>
            </a:r>
          </a:p>
          <a:p>
            <a:r>
              <a:rPr sz="1300">
                <a:latin typeface="Consolas"/>
              </a:rPr>
              <a:t>  const initials = name</a:t>
            </a:r>
          </a:p>
          <a:p>
            <a:r>
              <a:rPr sz="1300">
                <a:latin typeface="Consolas"/>
              </a:rPr>
              <a:t>    .split(' ')</a:t>
            </a:r>
          </a:p>
          <a:p>
            <a:r>
              <a:rPr sz="1300">
                <a:latin typeface="Consolas"/>
              </a:rPr>
              <a:t>    .map(p =&gt; p.charAt(0))</a:t>
            </a:r>
          </a:p>
          <a:p>
            <a:r>
              <a:rPr sz="1300">
                <a:latin typeface="Consolas"/>
              </a:rPr>
              <a:t>    .slice(0, 2)</a:t>
            </a:r>
          </a:p>
          <a:p>
            <a:r>
              <a:rPr sz="1300">
                <a:latin typeface="Consolas"/>
              </a:rPr>
              <a:t>    .join('')</a:t>
            </a:r>
          </a:p>
          <a:p>
            <a:r>
              <a:rPr sz="1300">
                <a:latin typeface="Consolas"/>
              </a:rPr>
              <a:t>    .toUpperCase();</a:t>
            </a:r>
          </a:p>
          <a:p/>
          <a:p>
            <a:r>
              <a:rPr sz="1300">
                <a:latin typeface="Consolas"/>
              </a:rPr>
              <a:t>  return (</a:t>
            </a:r>
          </a:p>
          <a:p>
            <a:r>
              <a:rPr sz="1300">
                <a:latin typeface="Consolas"/>
              </a:rPr>
              <a:t>    &lt;div className="relative"&gt;</a:t>
            </a:r>
          </a:p>
          <a:p>
            <a:r>
              <a:rPr sz="1300">
                <a:latin typeface="Consolas"/>
              </a:rPr>
              <a:t>      &lt;div className="conic-gradient animate-spin-slow" /&gt;</a:t>
            </a:r>
          </a:p>
          <a:p>
            <a:r>
              <a:rPr sz="1300">
                <a:latin typeface="Consolas"/>
              </a:rPr>
              <a:t>      &lt;div className="bg-slate-900 rounded-full"&gt;</a:t>
            </a:r>
          </a:p>
          <a:p>
            <a:r>
              <a:rPr sz="1300">
                <a:latin typeface="Consolas"/>
              </a:rPr>
              <a:t>        {initials}</a:t>
            </a:r>
          </a:p>
          <a:p>
            <a:r>
              <a:rPr sz="1300">
                <a:latin typeface="Consolas"/>
              </a:rPr>
              <a:t>      &lt;/div&gt;</a:t>
            </a:r>
          </a:p>
          <a:p>
            <a:r>
              <a:rPr sz="1300">
                <a:latin typeface="Consolas"/>
              </a:rPr>
              <a:t>      &lt;div className="blur-xl animate-pulse-soft" /&gt;</a:t>
            </a:r>
          </a:p>
          <a:p>
            <a:r>
              <a:rPr sz="1300">
                <a:latin typeface="Consolas"/>
              </a:rPr>
              <a:t>    &lt;/div&gt;</a:t>
            </a:r>
          </a:p>
          <a:p>
            <a:r>
              <a:rPr sz="1300">
                <a:latin typeface="Consolas"/>
              </a:rPr>
              <a:t>  );</a:t>
            </a:r>
          </a:p>
          <a:p>
            <a:r>
              <a:rPr sz="1300">
                <a:latin typeface="Consolas"/>
              </a:rPr>
              <a:t>}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600200"/>
            <a:ext cx="4023360" cy="4480560"/>
          </a:xfrm>
          <a:prstGeom prst="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1E1B4B"/>
                </a:solidFill>
                <a:latin typeface="Calibri"/>
              </a:rPr>
              <a:t>Anotasi:</a:t>
            </a:r>
          </a:p>
          <a:p/>
          <a:p>
            <a:r>
              <a:rPr sz="1300">
                <a:latin typeface="Calibri"/>
              </a:rPr>
              <a:t>1. Inisial dihitung dari nama,</a:t>
            </a:r>
          </a:p>
          <a:p>
            <a:r>
              <a:rPr sz="1300">
                <a:latin typeface="Calibri"/>
              </a:rPr>
              <a:t>   lalu dirender di lingkaran tengah.</a:t>
            </a:r>
          </a:p>
          <a:p/>
          <a:p>
            <a:r>
              <a:rPr sz="1300">
                <a:latin typeface="Calibri"/>
              </a:rPr>
              <a:t>2. Ring conic-gradient berputar</a:t>
            </a:r>
          </a:p>
          <a:p>
            <a:r>
              <a:rPr sz="1300">
                <a:latin typeface="Calibri"/>
              </a:rPr>
              <a:t>   via keyframe CSS spin-slow.</a:t>
            </a:r>
          </a:p>
          <a:p/>
          <a:p>
            <a:r>
              <a:rPr sz="1300">
                <a:latin typeface="Calibri"/>
              </a:rPr>
              <a:t>3. Glow blur di belakang memakai</a:t>
            </a:r>
          </a:p>
          <a:p>
            <a:r>
              <a:rPr sz="1300">
                <a:latin typeface="Calibri"/>
              </a:rPr>
              <a:t>   animate-pulse-soft.</a:t>
            </a:r>
          </a:p>
          <a:p/>
          <a:p>
            <a:r>
              <a:rPr sz="1300">
                <a:latin typeface="Calibri"/>
              </a:rPr>
              <a:t>4. Semua animasi murni CSS,</a:t>
            </a:r>
          </a:p>
          <a:p>
            <a:r>
              <a:rPr sz="1300">
                <a:latin typeface="Calibri"/>
              </a:rPr>
              <a:t>   tanpa library eksternal.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Hasil PageSpeed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4937760" cy="457200"/>
          </a:xfrm>
          <a:prstGeom prst="roundRect">
            <a:avLst/>
          </a:prstGeom>
          <a:solidFill>
            <a:srgbClr val="312E8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4937760" cy="36576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4338CA"/>
                </a:solidFill>
                <a:latin typeface="Calibri"/>
              </a:rPr>
              <a:t>Screenshot skor Mobile</a:t>
            </a:r>
          </a:p>
          <a:p>
            <a:r>
              <a:rPr sz="1600" b="1">
                <a:latin typeface="Calibri"/>
              </a:rPr>
              <a:t>sisipkan di sini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17320"/>
            <a:ext cx="5669280" cy="457200"/>
          </a:xfrm>
          <a:prstGeom prst="roundRect">
            <a:avLst/>
          </a:prstGeom>
          <a:solidFill>
            <a:srgbClr val="312E8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920240"/>
            <a:ext cx="5669280" cy="36576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4338CA"/>
                </a:solidFill>
                <a:latin typeface="Calibri"/>
              </a:rPr>
              <a:t>Screenshot skor Desktop</a:t>
            </a:r>
          </a:p>
          <a:p>
            <a:r>
              <a:rPr sz="1600" b="1">
                <a:latin typeface="Calibri"/>
              </a:rPr>
              <a:t>sisipkan di sini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881360" cy="777240"/>
          </a:xfrm>
          <a:prstGeom prst="roundRect">
            <a:avLst/>
          </a:prstGeom>
          <a:solidFill>
            <a:srgbClr val="F1F5F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1E293B"/>
                </a:solidFill>
                <a:latin typeface="Calibri"/>
              </a:rPr>
              <a:t>Optimasi: build Vite (minify + tree-shaking) · CSS Tailwind ter-purge · avatar &amp; background CSS/SVG tanpa bitmap besar (CLS rendah) · SPA fallback + robots.txt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640080" y="169164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627017">
                <a:tc>
                  <a:txBody>
                    <a:bodyPr/>
                    <a:lstStyle/>
                    <a:p>
                      <a:r>
                        <a:t>Module /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Fungsi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React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Library UI untuk membangun komponen dan mengelola state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Vite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Build tool &amp; dev server dengan Hot Module Replacement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 safety, autocomplete, dan deteksi error saat kompilasi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Tailwind CSS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Styling utility-first untuk tampilan responsif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React Router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Routing SPA dan navigasi antar halaman/section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r>
                        <a:t>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Hosting publik + auto-deploy dari push ke GitHub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Development Module List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>
                <a:solidFill>
                  <a:srgbClr val="CBD5E1"/>
                </a:solidFill>
                <a:latin typeface="Calibri"/>
              </a:rPr>
              <a:t>davidmuhamad97@gmail.com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github.com/davidmuhamad97-ops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linkedin.com/in/muhamad-david-8674b2155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my-personalweb-swart.vercel.app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291840"/>
            <a:ext cx="2194560" cy="73152"/>
          </a:xfrm>
          <a:prstGeom prst="rect">
            <a:avLst/>
          </a:prstGeom>
          <a:solidFill>
            <a:srgbClr val="8B5C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4F46E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4754880"/>
            <a:ext cx="2377440" cy="2377440"/>
          </a:xfrm>
          <a:prstGeom prst="ellipse">
            <a:avLst/>
          </a:prstGeom>
          <a:solidFill>
            <a:srgbClr val="7C3AE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